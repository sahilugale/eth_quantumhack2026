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acifico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acific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b1e7c19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ab1e7c19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b1e7c1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b1e7c1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ab1e7c1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ab1e7c1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Comparing the two started with using the same number of trainable param.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Increase param. both converged. This might be a something. But is the quantum part of </a:t>
            </a:r>
            <a:r>
              <a:rPr lang="fr"/>
              <a:t>thai</a:t>
            </a:r>
            <a:r>
              <a:rPr lang="fr"/>
              <a:t> actually giving us an advantage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b20521d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ab20521d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This is not a problem that a quantum system will be needed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b1e7c19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ab1e7c19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ab20521d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ab20521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ab20521df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ab20521df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ab20521d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ab20521d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fr" sz="1800">
                <a:solidFill>
                  <a:schemeClr val="dk1"/>
                </a:solidFill>
              </a:rPr>
              <a:t>plot: </a:t>
            </a:r>
            <a:endParaRPr i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i="1" lang="fr" sz="1800">
                <a:solidFill>
                  <a:schemeClr val="dk1"/>
                </a:solidFill>
              </a:rPr>
              <a:t>runtime -&gt; how well can we sim. it classically (do we reach interesting regime)</a:t>
            </a:r>
            <a:endParaRPr i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i="1" lang="fr" sz="1800">
                <a:solidFill>
                  <a:schemeClr val="dk1"/>
                </a:solidFill>
              </a:rPr>
              <a:t>RMSE -&gt; how does accuracy change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b20521d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ab20521d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b20521d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ab20521d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stability: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different seed -&gt; same values (cost function should not change)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fr"/>
              <a:t>not getting the same results for the three seeds some instability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b20521d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ab20521d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b2e0a0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ab2e0a0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type="ctrTitle"/>
          </p:nvPr>
        </p:nvSpPr>
        <p:spPr>
          <a:xfrm>
            <a:off x="227758" y="398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Quandela Challenge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27750" y="2450825"/>
            <a:ext cx="8520600" cy="11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Are Quantum PINNs actually doing anything?</a:t>
            </a:r>
            <a:br>
              <a:rPr lang="fr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732">
                <a:solidFill>
                  <a:schemeClr val="lt1"/>
                </a:solidFill>
              </a:rPr>
              <a:t>ZombieCats</a:t>
            </a:r>
            <a:endParaRPr i="1" sz="1732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227750" y="3823525"/>
            <a:ext cx="23136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732">
                <a:solidFill>
                  <a:schemeClr val="lt1"/>
                </a:solidFill>
              </a:rPr>
              <a:t>Zombie1 : Chayma  </a:t>
            </a:r>
            <a:endParaRPr i="1" sz="1732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292750" y="3823525"/>
            <a:ext cx="23136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732">
                <a:solidFill>
                  <a:schemeClr val="lt1"/>
                </a:solidFill>
              </a:rPr>
              <a:t>Zombie2 : Iva  </a:t>
            </a:r>
            <a:endParaRPr i="1" sz="1732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6168825" y="3823525"/>
            <a:ext cx="23136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732">
                <a:solidFill>
                  <a:schemeClr val="lt1"/>
                </a:solidFill>
              </a:rPr>
              <a:t>Zombie3 : Sahil  </a:t>
            </a:r>
            <a:endParaRPr i="1" sz="1732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Quantum PINNs vs. PINNs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502200" y="2260600"/>
            <a:ext cx="2914200" cy="11526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PINN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</a:rPr>
              <a:t> NN + physical intuition</a:t>
            </a:r>
            <a:endParaRPr/>
          </a:p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470400" y="1778000"/>
            <a:ext cx="3492600" cy="11526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1"/>
                </a:solidFill>
              </a:rPr>
              <a:t>QPINN: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PINN + quantum model</a:t>
            </a:r>
            <a:endParaRPr/>
          </a:p>
        </p:txBody>
      </p:sp>
      <p:pic>
        <p:nvPicPr>
          <p:cNvPr id="72" name="Google Shape;72;p14" title="JPEG-Bild-42F1-B83B-6D-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850" y="1432900"/>
            <a:ext cx="1375650" cy="827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3775" y="3690875"/>
            <a:ext cx="3805924" cy="905300"/>
          </a:xfrm>
          <a:prstGeom prst="rect">
            <a:avLst/>
          </a:prstGeom>
          <a:noFill/>
          <a:ln cap="flat" cmpd="sng" w="9525">
            <a:solidFill>
              <a:srgbClr val="924DA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0378" y="2571750"/>
            <a:ext cx="1091928" cy="163829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 rot="-1661294">
            <a:off x="5018150" y="2497432"/>
            <a:ext cx="2402401" cy="985124"/>
          </a:xfrm>
          <a:prstGeom prst="rect">
            <a:avLst/>
          </a:prstGeom>
          <a:solidFill>
            <a:srgbClr val="924DA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5200">
                <a:solidFill>
                  <a:schemeClr val="lt1"/>
                </a:solidFill>
              </a:rPr>
              <a:t>MAGIC</a:t>
            </a:r>
            <a:endParaRPr sz="5200">
              <a:solidFill>
                <a:schemeClr val="lt1"/>
              </a:solidFill>
            </a:endParaRPr>
          </a:p>
        </p:txBody>
      </p:sp>
      <p:pic>
        <p:nvPicPr>
          <p:cNvPr id="76" name="Google Shape;76;p14" title="Bildschirmfoto 2026-05-10 um 09.52.2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394876">
            <a:off x="6911975" y="2975450"/>
            <a:ext cx="860425" cy="13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7150100" y="3911600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Hugo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6557400" y="99150"/>
            <a:ext cx="2586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500">
                <a:solidFill>
                  <a:schemeClr val="dk2"/>
                </a:solidFill>
              </a:rPr>
              <a:t>Why is this </a:t>
            </a:r>
            <a:r>
              <a:rPr b="1" lang="fr" sz="2500">
                <a:solidFill>
                  <a:schemeClr val="dk2"/>
                </a:solidFill>
              </a:rPr>
              <a:t>interesting</a:t>
            </a:r>
            <a:r>
              <a:rPr b="1" lang="fr" sz="2500">
                <a:solidFill>
                  <a:schemeClr val="dk2"/>
                </a:solidFill>
              </a:rPr>
              <a:t>?</a:t>
            </a:r>
            <a:endParaRPr b="1" sz="2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533" y="1152601"/>
            <a:ext cx="6385469" cy="39908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289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PINNs VS QPINNs: parameter budget</a:t>
            </a:r>
            <a:r>
              <a:rPr b="1" lang="fr"/>
              <a:t> </a:t>
            </a:r>
            <a:endParaRPr b="1"/>
          </a:p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349200" y="3800276"/>
            <a:ext cx="2400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chemeClr val="dk2"/>
                </a:solidFill>
              </a:rPr>
              <a:t>This will be our classical benchmark!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0" y="1152600"/>
            <a:ext cx="30987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(Q)PINN: ~270 param. : QPINN follows true prediction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PINN no convergence!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9350" y="2735100"/>
            <a:ext cx="30000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(Q)PINN: ~400 param</a:t>
            </a:r>
            <a:r>
              <a:rPr lang="fr" sz="1800">
                <a:solidFill>
                  <a:schemeClr val="dk1"/>
                </a:solidFill>
              </a:rPr>
              <a:t>eters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Success!!!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PINNs VS QPINNs: parameter budget with Time </a:t>
            </a:r>
            <a:endParaRPr/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7700"/>
            <a:ext cx="5994399" cy="359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5752950" y="2635250"/>
            <a:ext cx="326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</a:rPr>
              <a:t>Still in the regime of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</a:rPr>
              <a:t>classical </a:t>
            </a:r>
            <a:r>
              <a:rPr b="1" lang="fr" sz="2000">
                <a:solidFill>
                  <a:schemeClr val="dk1"/>
                </a:solidFill>
              </a:rPr>
              <a:t>simulability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6144000" y="1152600"/>
            <a:ext cx="300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(Q)PINN: ~400 parameters						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Investigating Quantum Resources</a:t>
            </a:r>
            <a:endParaRPr b="1"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311700" y="1152475"/>
            <a:ext cx="8520600" cy="40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</a:rPr>
              <a:t>Quantum Resources := # Quantum Parameter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7" name="Google Shape;107;p17" title="JPEG-Bild-475F-8BBE-46-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750" y="1279925"/>
            <a:ext cx="5324501" cy="311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Quantum Resources: circuit ‘depth’  </a:t>
            </a:r>
            <a:endParaRPr b="1"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635500" y="1152475"/>
            <a:ext cx="419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116" name="Google Shape;116;p18" title="JPEG-Bild-475F-8BBE-46-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110" y="1476575"/>
            <a:ext cx="4639516" cy="271476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311700" y="2095500"/>
            <a:ext cx="3828300" cy="1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</a:rPr>
              <a:t>QPINN: 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increase # quantum parameters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 sz="1800">
                <a:solidFill>
                  <a:schemeClr val="dk1"/>
                </a:solidFill>
              </a:rPr>
              <a:t>keep # classical parameters constant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3075" y="1228800"/>
            <a:ext cx="4909213" cy="370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Quantum Resources: circuit ‘depth’</a:t>
            </a:r>
            <a:endParaRPr b="1"/>
          </a:p>
        </p:txBody>
      </p:sp>
      <p:sp>
        <p:nvSpPr>
          <p:cNvPr id="127" name="Google Shape;127;p19"/>
          <p:cNvSpPr txBox="1"/>
          <p:nvPr/>
        </p:nvSpPr>
        <p:spPr>
          <a:xfrm>
            <a:off x="812800" y="2489200"/>
            <a:ext cx="24891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</a:rPr>
              <a:t>Runtime per seed: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000">
                <a:solidFill>
                  <a:schemeClr val="dk1"/>
                </a:solidFill>
              </a:rPr>
              <a:t> 25 - 30 min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Quantum Resources: circuit ‘depth’</a:t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4238"/>
            <a:ext cx="4382800" cy="275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800" y="1549400"/>
            <a:ext cx="4525350" cy="28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Outlook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1397000"/>
            <a:ext cx="31338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Further exploration of ‘Quantum’: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implement ‘layers’, e.g.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change geometry (U)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Look at implementation on real hardware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Look at noise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1" title="JPEG-Bild-4DF3-84D8-50-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225" y="2323617"/>
            <a:ext cx="5386926" cy="1033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/>
        </p:nvSpPr>
        <p:spPr>
          <a:xfrm>
            <a:off x="0" y="0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289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PINNs VS QPINNs: parameter budget </a:t>
            </a:r>
            <a:endParaRPr b="1"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6506200" y="1809075"/>
            <a:ext cx="26076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(Q)PINN: ~400 parameters, average across 3 seeds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600"/>
            <a:ext cx="6506194" cy="39043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Summary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0" y="-12"/>
            <a:ext cx="9144000" cy="1152600"/>
          </a:xfrm>
          <a:prstGeom prst="rect">
            <a:avLst/>
          </a:prstGeom>
          <a:solidFill>
            <a:srgbClr val="924DA6">
              <a:alpha val="495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492400" y="2516275"/>
            <a:ext cx="3955500" cy="1319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Quantum resources: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modify ratio of parameters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increase both # parameter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4696100" y="1881275"/>
            <a:ext cx="3955500" cy="1954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MAE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L_inf error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NMSE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Loss convergence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Runtime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fr">
                <a:solidFill>
                  <a:schemeClr val="dk1"/>
                </a:solidFill>
              </a:rPr>
              <a:t>Seed stability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2016400" y="1264025"/>
            <a:ext cx="1072500" cy="482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Tests</a:t>
            </a:r>
            <a:endParaRPr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5978800" y="1264025"/>
            <a:ext cx="1072500" cy="572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Metrics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492400" y="1890150"/>
            <a:ext cx="3955500" cy="48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</a:rPr>
              <a:t>PINN baseline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492400" y="3979100"/>
            <a:ext cx="39555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</a:rPr>
              <a:t>Freeze Quantum Layer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2185200" y="2163900"/>
            <a:ext cx="4773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dk2"/>
                </a:solidFill>
                <a:latin typeface="Pacifico"/>
                <a:ea typeface="Pacifico"/>
                <a:cs typeface="Pacifico"/>
                <a:sym typeface="Pacifico"/>
              </a:rPr>
              <a:t>That’s all Folks!</a:t>
            </a:r>
            <a:endParaRPr sz="4100">
              <a:solidFill>
                <a:schemeClr val="dk2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